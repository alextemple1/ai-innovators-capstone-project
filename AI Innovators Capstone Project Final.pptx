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ba4df0a0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ba4df0a0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ba4df0a00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ba4df0a00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a serious car crash occurs, the people inside the vehicle are often injured, disoriented, or unconscious—making it impossible for them to call 911. Traditional crash detection systems may be slow, may require manual activation, or may not provide enough detail for emergency responders to act quickly. As a result, emergency services can be delayed, which significantly increases the risk of severe injury or death. There is a need for an automated, reliable system that can instantly recognize a crash and contact authorities with accurate information, even when the occupants cannot.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ba4df0a00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ba4df0a00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Introducing the solution: Impact Intel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3cca862ca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3cca862ca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it work:</a:t>
            </a:r>
            <a:endParaRPr/>
          </a:p>
          <a:p>
            <a:pPr indent="0" lvl="0" marL="0" rtl="0" algn="l">
              <a:spcBef>
                <a:spcPts val="0"/>
              </a:spcBef>
              <a:spcAft>
                <a:spcPts val="0"/>
              </a:spcAft>
              <a:buNone/>
            </a:pPr>
            <a:r>
              <a:rPr lang="en"/>
              <a:t>2. </a:t>
            </a:r>
            <a:r>
              <a:rPr lang="en"/>
              <a:t>User is driving along</a:t>
            </a:r>
            <a:endParaRPr/>
          </a:p>
          <a:p>
            <a:pPr indent="0" lvl="0" marL="0" rtl="0" algn="l">
              <a:spcBef>
                <a:spcPts val="0"/>
              </a:spcBef>
              <a:spcAft>
                <a:spcPts val="0"/>
              </a:spcAft>
              <a:buNone/>
            </a:pPr>
            <a:r>
              <a:rPr lang="en"/>
              <a:t>The driver is traveling normally, and the in-car AI continuously monitors sensor data in the background.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 Crash detection</a:t>
            </a:r>
            <a:endParaRPr/>
          </a:p>
          <a:p>
            <a:pPr indent="0" lvl="0" marL="0" rtl="0" algn="l">
              <a:spcBef>
                <a:spcPts val="0"/>
              </a:spcBef>
              <a:spcAft>
                <a:spcPts val="0"/>
              </a:spcAft>
              <a:buNone/>
            </a:pPr>
            <a:r>
              <a:rPr lang="en"/>
              <a:t>A sudden, severe impact occurs. The AI instantly recognizes the force pattern as a crash-level event.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3. Authorities are alerted</a:t>
            </a:r>
            <a:endParaRPr/>
          </a:p>
          <a:p>
            <a:pPr indent="0" lvl="0" marL="0" rtl="0" algn="l">
              <a:spcBef>
                <a:spcPts val="0"/>
              </a:spcBef>
              <a:spcAft>
                <a:spcPts val="0"/>
              </a:spcAft>
              <a:buNone/>
            </a:pPr>
            <a:r>
              <a:rPr lang="en"/>
              <a:t>The system automatically sends an emergency alert to 911, including the vehicle’s GPS location and crash details—no user action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4. Fast emergency service response</a:t>
            </a:r>
            <a:endParaRPr/>
          </a:p>
          <a:p>
            <a:pPr indent="0" lvl="0" marL="0" rtl="0" algn="l">
              <a:spcBef>
                <a:spcPts val="0"/>
              </a:spcBef>
              <a:spcAft>
                <a:spcPts val="0"/>
              </a:spcAft>
              <a:buNone/>
            </a:pPr>
            <a:r>
              <a:rPr lang="en"/>
              <a:t>Emergency responders are dispatched quickly to the scene based on the automatically provided information, reducing response time and improving safety outcomes.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ba4df0a0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ba4df0a0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will use </a:t>
            </a:r>
            <a:r>
              <a:rPr lang="en"/>
              <a:t>Classification to advance its algorithm.</a:t>
            </a:r>
            <a:endParaRPr/>
          </a:p>
          <a:p>
            <a:pPr indent="0" lvl="0" marL="0" rtl="0" algn="l">
              <a:spcBef>
                <a:spcPts val="0"/>
              </a:spcBef>
              <a:spcAft>
                <a:spcPts val="0"/>
              </a:spcAft>
              <a:buNone/>
            </a:pPr>
            <a:r>
              <a:rPr lang="en"/>
              <a:t>The AI will determine whether incoming sensor data indicates a crash or non-crash event. </a:t>
            </a:r>
            <a:endParaRPr/>
          </a:p>
          <a:p>
            <a:pPr indent="0" lvl="0" marL="0" rtl="0" algn="l">
              <a:spcBef>
                <a:spcPts val="0"/>
              </a:spcBef>
              <a:spcAft>
                <a:spcPts val="0"/>
              </a:spcAft>
              <a:buClr>
                <a:schemeClr val="dk1"/>
              </a:buClr>
              <a:buSzPts val="1100"/>
              <a:buFont typeface="Arial"/>
              <a:buNone/>
            </a:pPr>
            <a:r>
              <a:rPr lang="en"/>
              <a:t>The AI will analyze data such as deceleration patterns, impact force, and acceleration.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Training</a:t>
            </a:r>
            <a:r>
              <a:rPr lang="en"/>
              <a:t> data:</a:t>
            </a:r>
            <a:endParaRPr/>
          </a:p>
          <a:p>
            <a:pPr indent="0" lvl="0" marL="0" rtl="0" algn="l">
              <a:spcBef>
                <a:spcPts val="0"/>
              </a:spcBef>
              <a:spcAft>
                <a:spcPts val="0"/>
              </a:spcAft>
              <a:buNone/>
            </a:pPr>
            <a:r>
              <a:rPr lang="en"/>
              <a:t>AI can start off learning through a variety of patterns set up by simulated tests. When the AI is put into action, it can continue to learn through its experiences to improve and adapt.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ba4df0a00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ba4df0a00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cefefa94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cefefa94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ba4df0a0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ba4df0a0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ba4df0a00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ba4df0a00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8.jpg"/><Relationship Id="rId6" Type="http://schemas.openxmlformats.org/officeDocument/2006/relationships/image" Target="../media/image2.jpg"/><Relationship Id="rId7"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Innovators Capstone Project (DRAFT)</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Alex Temple and Seth Bickham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Problem.</a:t>
            </a:r>
            <a:endParaRPr/>
          </a:p>
        </p:txBody>
      </p:sp>
      <p:sp>
        <p:nvSpPr>
          <p:cNvPr id="141" name="Google Shape;141;p14"/>
          <p:cNvSpPr txBox="1"/>
          <p:nvPr>
            <p:ph idx="1" type="body"/>
          </p:nvPr>
        </p:nvSpPr>
        <p:spPr>
          <a:xfrm>
            <a:off x="1000200" y="1307850"/>
            <a:ext cx="7143600" cy="1077600"/>
          </a:xfrm>
          <a:prstGeom prst="rect">
            <a:avLst/>
          </a:prstGeom>
        </p:spPr>
        <p:txBody>
          <a:bodyPr anchorCtr="0" anchor="t" bIns="91425" lIns="91425" spcFirstLastPara="1" rIns="91425" wrap="square" tIns="91425">
            <a:normAutofit fontScale="55000" lnSpcReduction="10000"/>
          </a:bodyPr>
          <a:lstStyle/>
          <a:p>
            <a:pPr indent="-350502" lvl="0" marL="457200" rtl="0" algn="l">
              <a:spcBef>
                <a:spcPts val="0"/>
              </a:spcBef>
              <a:spcAft>
                <a:spcPts val="0"/>
              </a:spcAft>
              <a:buSzPct val="100000"/>
              <a:buChar char="●"/>
            </a:pPr>
            <a:r>
              <a:rPr lang="en" sz="3490"/>
              <a:t>Motor vehicle accidents often leave victims unable to call for help, causing dangerous delays in emergency response. </a:t>
            </a:r>
            <a:endParaRPr sz="3490"/>
          </a:p>
          <a:p>
            <a:pPr indent="0" lvl="0" marL="0" rtl="0" algn="l">
              <a:spcBef>
                <a:spcPts val="1200"/>
              </a:spcBef>
              <a:spcAft>
                <a:spcPts val="1200"/>
              </a:spcAft>
              <a:buNone/>
            </a:pPr>
            <a:r>
              <a:t/>
            </a:r>
            <a:endParaRPr/>
          </a:p>
        </p:txBody>
      </p:sp>
      <p:pic>
        <p:nvPicPr>
          <p:cNvPr id="142" name="Google Shape;142;p14" title="download-2.jpg"/>
          <p:cNvPicPr preferRelativeResize="0"/>
          <p:nvPr/>
        </p:nvPicPr>
        <p:blipFill>
          <a:blip r:embed="rId3">
            <a:alphaModFix/>
          </a:blip>
          <a:stretch>
            <a:fillRect/>
          </a:stretch>
        </p:blipFill>
        <p:spPr>
          <a:xfrm>
            <a:off x="113775" y="2267826"/>
            <a:ext cx="2841900" cy="1884299"/>
          </a:xfrm>
          <a:prstGeom prst="rect">
            <a:avLst/>
          </a:prstGeom>
          <a:noFill/>
          <a:ln>
            <a:noFill/>
          </a:ln>
        </p:spPr>
      </p:pic>
      <p:pic>
        <p:nvPicPr>
          <p:cNvPr id="143" name="Google Shape;143;p14" title="download-1.jpg"/>
          <p:cNvPicPr preferRelativeResize="0"/>
          <p:nvPr/>
        </p:nvPicPr>
        <p:blipFill>
          <a:blip r:embed="rId4">
            <a:alphaModFix/>
          </a:blip>
          <a:stretch>
            <a:fillRect/>
          </a:stretch>
        </p:blipFill>
        <p:spPr>
          <a:xfrm>
            <a:off x="3052625" y="2859125"/>
            <a:ext cx="2841906" cy="1975600"/>
          </a:xfrm>
          <a:prstGeom prst="rect">
            <a:avLst/>
          </a:prstGeom>
          <a:noFill/>
          <a:ln>
            <a:noFill/>
          </a:ln>
        </p:spPr>
      </p:pic>
      <p:pic>
        <p:nvPicPr>
          <p:cNvPr id="144" name="Google Shape;144;p14" title="download.jpg"/>
          <p:cNvPicPr preferRelativeResize="0"/>
          <p:nvPr/>
        </p:nvPicPr>
        <p:blipFill>
          <a:blip r:embed="rId5">
            <a:alphaModFix/>
          </a:blip>
          <a:stretch>
            <a:fillRect/>
          </a:stretch>
        </p:blipFill>
        <p:spPr>
          <a:xfrm>
            <a:off x="6046925" y="2410100"/>
            <a:ext cx="2637528" cy="1975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15" title="Screen Shot 2025-11-30 at 2.19.05 PM.png"/>
          <p:cNvPicPr preferRelativeResize="0"/>
          <p:nvPr/>
        </p:nvPicPr>
        <p:blipFill>
          <a:blip r:embed="rId3">
            <a:alphaModFix/>
          </a:blip>
          <a:stretch>
            <a:fillRect/>
          </a:stretch>
        </p:blipFill>
        <p:spPr>
          <a:xfrm>
            <a:off x="2604050" y="1055200"/>
            <a:ext cx="3935901" cy="3935901"/>
          </a:xfrm>
          <a:prstGeom prst="rect">
            <a:avLst/>
          </a:prstGeom>
          <a:noFill/>
          <a:ln>
            <a:noFill/>
          </a:ln>
        </p:spPr>
      </p:pic>
      <p:sp>
        <p:nvSpPr>
          <p:cNvPr id="150" name="Google Shape;150;p15"/>
          <p:cNvSpPr txBox="1"/>
          <p:nvPr>
            <p:ph idx="1" type="body"/>
          </p:nvPr>
        </p:nvSpPr>
        <p:spPr>
          <a:xfrm>
            <a:off x="0" y="1399425"/>
            <a:ext cx="2604000" cy="3660600"/>
          </a:xfrm>
          <a:prstGeom prst="rect">
            <a:avLst/>
          </a:prstGeom>
        </p:spPr>
        <p:txBody>
          <a:bodyPr anchorCtr="0" anchor="t" bIns="91425" lIns="91425" spcFirstLastPara="1" rIns="91425" wrap="square" tIns="91425">
            <a:normAutofit fontScale="40000"/>
          </a:bodyPr>
          <a:lstStyle/>
          <a:p>
            <a:pPr indent="-317256" lvl="0" marL="457200" rtl="0" algn="l">
              <a:spcBef>
                <a:spcPts val="0"/>
              </a:spcBef>
              <a:spcAft>
                <a:spcPts val="0"/>
              </a:spcAft>
              <a:buSzPct val="100000"/>
              <a:buChar char="●"/>
            </a:pPr>
            <a:r>
              <a:rPr lang="en" sz="3490"/>
              <a:t>The system uses a mobile AI module that is in the car. The program monitors sensor data to detect crash-level impacts in real time. AI will continuously monitor sensor data (tracking sudden deceleration and impact force) to detect when a collision occurs. </a:t>
            </a:r>
            <a:endParaRPr sz="3490"/>
          </a:p>
          <a:p>
            <a:pPr indent="0" lvl="0" marL="0" rtl="0" algn="l">
              <a:spcBef>
                <a:spcPts val="1200"/>
              </a:spcBef>
              <a:spcAft>
                <a:spcPts val="1200"/>
              </a:spcAft>
              <a:buNone/>
            </a:pPr>
            <a:r>
              <a:t/>
            </a:r>
            <a:endParaRPr/>
          </a:p>
        </p:txBody>
      </p:sp>
      <p:sp>
        <p:nvSpPr>
          <p:cNvPr id="151" name="Google Shape;151;p15"/>
          <p:cNvSpPr txBox="1"/>
          <p:nvPr>
            <p:ph type="title"/>
          </p:nvPr>
        </p:nvSpPr>
        <p:spPr>
          <a:xfrm>
            <a:off x="0" y="0"/>
            <a:ext cx="9144000" cy="850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SOLUTION.</a:t>
            </a:r>
            <a:endParaRPr/>
          </a:p>
        </p:txBody>
      </p:sp>
      <p:sp>
        <p:nvSpPr>
          <p:cNvPr id="152" name="Google Shape;152;p15"/>
          <p:cNvSpPr txBox="1"/>
          <p:nvPr>
            <p:ph idx="1" type="body"/>
          </p:nvPr>
        </p:nvSpPr>
        <p:spPr>
          <a:xfrm>
            <a:off x="6540000" y="1353075"/>
            <a:ext cx="2604000" cy="3591600"/>
          </a:xfrm>
          <a:prstGeom prst="rect">
            <a:avLst/>
          </a:prstGeom>
        </p:spPr>
        <p:txBody>
          <a:bodyPr anchorCtr="0" anchor="t" bIns="91425" lIns="91425" spcFirstLastPara="1" rIns="91425" wrap="square" tIns="91425">
            <a:normAutofit/>
          </a:bodyPr>
          <a:lstStyle/>
          <a:p>
            <a:pPr indent="-314325" lvl="0" marL="457200" rtl="0" algn="l">
              <a:spcBef>
                <a:spcPts val="0"/>
              </a:spcBef>
              <a:spcAft>
                <a:spcPts val="0"/>
              </a:spcAft>
              <a:buSzPts val="1350"/>
              <a:buChar char="●"/>
            </a:pPr>
            <a:r>
              <a:rPr lang="en" sz="1350"/>
              <a:t>Once detected, the system will automatically contact 911 with the vehicle’s location and crash details, ensuring rapid emergency response without requiring user action.</a:t>
            </a:r>
            <a:endParaRPr sz="1350"/>
          </a:p>
          <a:p>
            <a:pPr indent="0" lvl="0" marL="0" rtl="0" algn="l">
              <a:spcBef>
                <a:spcPts val="1200"/>
              </a:spcBef>
              <a:spcAft>
                <a:spcPts val="1200"/>
              </a:spcAft>
              <a:buNone/>
            </a:pPr>
            <a:r>
              <a:t/>
            </a:r>
            <a:endParaRPr/>
          </a:p>
        </p:txBody>
      </p:sp>
      <p:sp>
        <p:nvSpPr>
          <p:cNvPr id="153" name="Google Shape;153;p15"/>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t/>
            </a:r>
            <a:endParaRPr sz="1200">
              <a:solidFill>
                <a:srgbClr val="273540"/>
              </a:solidFill>
            </a:endParaRPr>
          </a:p>
        </p:txBody>
      </p:sp>
      <p:sp>
        <p:nvSpPr>
          <p:cNvPr id="154" name="Google Shape;154;p15"/>
          <p:cNvSpPr txBox="1"/>
          <p:nvPr>
            <p:ph idx="1" type="body"/>
          </p:nvPr>
        </p:nvSpPr>
        <p:spPr>
          <a:xfrm>
            <a:off x="667275" y="435700"/>
            <a:ext cx="8198700" cy="6195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en" sz="4690"/>
              <a:t>An AI-powered detection system that instantly identifies vehicle accidents and automatically alerts authorities to ensure rapid emergency response.</a:t>
            </a:r>
            <a:endParaRPr sz="469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it Works.</a:t>
            </a:r>
            <a:endParaRPr/>
          </a:p>
        </p:txBody>
      </p:sp>
      <p:pic>
        <p:nvPicPr>
          <p:cNvPr id="160" name="Google Shape;160;p16" title="240_F_123522471_XZe5ebqil1DFJRgOUJ6taDP4DnmHjtL7.jpg"/>
          <p:cNvPicPr preferRelativeResize="0"/>
          <p:nvPr/>
        </p:nvPicPr>
        <p:blipFill>
          <a:blip r:embed="rId3">
            <a:alphaModFix/>
          </a:blip>
          <a:stretch>
            <a:fillRect/>
          </a:stretch>
        </p:blipFill>
        <p:spPr>
          <a:xfrm>
            <a:off x="60450" y="1576550"/>
            <a:ext cx="2600000" cy="1733350"/>
          </a:xfrm>
          <a:prstGeom prst="rect">
            <a:avLst/>
          </a:prstGeom>
          <a:noFill/>
          <a:ln>
            <a:noFill/>
          </a:ln>
        </p:spPr>
      </p:pic>
      <p:pic>
        <p:nvPicPr>
          <p:cNvPr id="161" name="Google Shape;161;p16" title="240_F_713650489_RNqEF07MMZCYMirVHkFCImBsk9FJPU8A.jpg"/>
          <p:cNvPicPr preferRelativeResize="0"/>
          <p:nvPr/>
        </p:nvPicPr>
        <p:blipFill>
          <a:blip r:embed="rId4">
            <a:alphaModFix/>
          </a:blip>
          <a:stretch>
            <a:fillRect/>
          </a:stretch>
        </p:blipFill>
        <p:spPr>
          <a:xfrm>
            <a:off x="2285975" y="3578600"/>
            <a:ext cx="2797261" cy="1564900"/>
          </a:xfrm>
          <a:prstGeom prst="rect">
            <a:avLst/>
          </a:prstGeom>
          <a:noFill/>
          <a:ln>
            <a:noFill/>
          </a:ln>
        </p:spPr>
      </p:pic>
      <p:pic>
        <p:nvPicPr>
          <p:cNvPr id="162" name="Google Shape;162;p16" title="240_F_1788065506_LG1JthAZhBEoqO4Xc5xPvyBDGREpuSoA.jpg"/>
          <p:cNvPicPr preferRelativeResize="0"/>
          <p:nvPr/>
        </p:nvPicPr>
        <p:blipFill>
          <a:blip r:embed="rId5">
            <a:alphaModFix/>
          </a:blip>
          <a:stretch>
            <a:fillRect/>
          </a:stretch>
        </p:blipFill>
        <p:spPr>
          <a:xfrm>
            <a:off x="4361300" y="1705075"/>
            <a:ext cx="3120057" cy="1733350"/>
          </a:xfrm>
          <a:prstGeom prst="rect">
            <a:avLst/>
          </a:prstGeom>
          <a:noFill/>
          <a:ln>
            <a:noFill/>
          </a:ln>
        </p:spPr>
      </p:pic>
      <p:pic>
        <p:nvPicPr>
          <p:cNvPr id="163" name="Google Shape;163;p16" title="240_F_985580550_punS0vvBpi5vJEdaJjieW4vg6d36ZymK.jpg"/>
          <p:cNvPicPr preferRelativeResize="0"/>
          <p:nvPr/>
        </p:nvPicPr>
        <p:blipFill>
          <a:blip r:embed="rId6">
            <a:alphaModFix/>
          </a:blip>
          <a:stretch>
            <a:fillRect/>
          </a:stretch>
        </p:blipFill>
        <p:spPr>
          <a:xfrm>
            <a:off x="6466851" y="3410159"/>
            <a:ext cx="2600000" cy="1733341"/>
          </a:xfrm>
          <a:prstGeom prst="rect">
            <a:avLst/>
          </a:prstGeom>
          <a:noFill/>
          <a:ln>
            <a:noFill/>
          </a:ln>
        </p:spPr>
      </p:pic>
      <p:pic>
        <p:nvPicPr>
          <p:cNvPr id="164" name="Google Shape;164;p16" title="Screen Shot 2025-11-30 at 2.19.05 PM.png"/>
          <p:cNvPicPr preferRelativeResize="0"/>
          <p:nvPr/>
        </p:nvPicPr>
        <p:blipFill>
          <a:blip r:embed="rId7">
            <a:alphaModFix/>
          </a:blip>
          <a:stretch>
            <a:fillRect/>
          </a:stretch>
        </p:blipFill>
        <p:spPr>
          <a:xfrm>
            <a:off x="7657100" y="79525"/>
            <a:ext cx="1391474" cy="13914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Type of </a:t>
            </a:r>
            <a:r>
              <a:rPr lang="en"/>
              <a:t>AI. </a:t>
            </a:r>
            <a:endParaRPr/>
          </a:p>
        </p:txBody>
      </p:sp>
      <p:pic>
        <p:nvPicPr>
          <p:cNvPr id="170" name="Google Shape;170;p17" title="Screen Shot 2025-11-30 at 2.19.05 PM.png"/>
          <p:cNvPicPr preferRelativeResize="0"/>
          <p:nvPr/>
        </p:nvPicPr>
        <p:blipFill>
          <a:blip r:embed="rId3">
            <a:alphaModFix/>
          </a:blip>
          <a:stretch>
            <a:fillRect/>
          </a:stretch>
        </p:blipFill>
        <p:spPr>
          <a:xfrm>
            <a:off x="7657100" y="79525"/>
            <a:ext cx="1391474" cy="1391474"/>
          </a:xfrm>
          <a:prstGeom prst="rect">
            <a:avLst/>
          </a:prstGeom>
          <a:noFill/>
          <a:ln>
            <a:noFill/>
          </a:ln>
        </p:spPr>
      </p:pic>
      <p:sp>
        <p:nvSpPr>
          <p:cNvPr id="171" name="Google Shape;171;p17"/>
          <p:cNvSpPr txBox="1"/>
          <p:nvPr>
            <p:ph idx="1" type="body"/>
          </p:nvPr>
        </p:nvSpPr>
        <p:spPr>
          <a:xfrm>
            <a:off x="851500" y="1116150"/>
            <a:ext cx="7038900" cy="2911200"/>
          </a:xfrm>
          <a:prstGeom prst="rect">
            <a:avLst/>
          </a:prstGeom>
        </p:spPr>
        <p:txBody>
          <a:bodyPr anchorCtr="0" anchor="t" bIns="91425" lIns="91425" spcFirstLastPara="1" rIns="91425" wrap="square" tIns="91425">
            <a:normAutofit fontScale="92500" lnSpcReduction="20000"/>
          </a:bodyPr>
          <a:lstStyle/>
          <a:p>
            <a:pPr indent="0" lvl="0" marL="457200" rtl="0" algn="l">
              <a:spcBef>
                <a:spcPts val="0"/>
              </a:spcBef>
              <a:spcAft>
                <a:spcPts val="0"/>
              </a:spcAft>
              <a:buNone/>
            </a:pPr>
            <a:r>
              <a:rPr lang="en"/>
              <a:t>Data:</a:t>
            </a:r>
            <a:endParaRPr/>
          </a:p>
          <a:p>
            <a:pPr indent="-304958" lvl="0" marL="914400" rtl="0" algn="l">
              <a:spcBef>
                <a:spcPts val="1200"/>
              </a:spcBef>
              <a:spcAft>
                <a:spcPts val="0"/>
              </a:spcAft>
              <a:buSzPct val="100000"/>
              <a:buChar char="●"/>
            </a:pPr>
            <a:r>
              <a:rPr lang="en"/>
              <a:t>Classification. </a:t>
            </a:r>
            <a:endParaRPr/>
          </a:p>
          <a:p>
            <a:pPr indent="0" lvl="0" marL="457200" rtl="0" algn="l">
              <a:spcBef>
                <a:spcPts val="1200"/>
              </a:spcBef>
              <a:spcAft>
                <a:spcPts val="0"/>
              </a:spcAft>
              <a:buNone/>
            </a:pPr>
            <a:r>
              <a:t/>
            </a:r>
            <a:endParaRPr/>
          </a:p>
          <a:p>
            <a:pPr indent="-304958" lvl="0" marL="914400" rtl="0" algn="l">
              <a:spcBef>
                <a:spcPts val="1200"/>
              </a:spcBef>
              <a:spcAft>
                <a:spcPts val="0"/>
              </a:spcAft>
              <a:buSzPct val="100000"/>
              <a:buChar char="●"/>
            </a:pPr>
            <a:r>
              <a:rPr lang="en"/>
              <a:t>Sensor data will indicates a crash or non-crash event. </a:t>
            </a:r>
            <a:endParaRPr/>
          </a:p>
          <a:p>
            <a:pPr indent="-293211" lvl="1" marL="1371600" rtl="0" algn="l">
              <a:spcBef>
                <a:spcPts val="0"/>
              </a:spcBef>
              <a:spcAft>
                <a:spcPts val="0"/>
              </a:spcAft>
              <a:buSzPct val="100000"/>
              <a:buChar char="○"/>
            </a:pPr>
            <a:r>
              <a:rPr lang="en"/>
              <a:t>Deceleration patterns, impact force, and acceleration.</a:t>
            </a:r>
            <a:endParaRPr/>
          </a:p>
          <a:p>
            <a:pPr indent="0" lvl="0" marL="457200" rtl="0" algn="l">
              <a:spcBef>
                <a:spcPts val="1200"/>
              </a:spcBef>
              <a:spcAft>
                <a:spcPts val="0"/>
              </a:spcAft>
              <a:buNone/>
            </a:pPr>
            <a:r>
              <a:t/>
            </a:r>
            <a:endParaRPr/>
          </a:p>
          <a:p>
            <a:pPr indent="-304958" lvl="0" marL="914400" rtl="0" algn="l">
              <a:spcBef>
                <a:spcPts val="1200"/>
              </a:spcBef>
              <a:spcAft>
                <a:spcPts val="0"/>
              </a:spcAft>
              <a:buSzPct val="100000"/>
              <a:buChar char="●"/>
            </a:pPr>
            <a:r>
              <a:rPr lang="en"/>
              <a:t>Simulated tests.  -&gt; Real Life Data.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72" name="Google Shape;172;p17" title="240_F_1575328226_CedbHL9ChGZhWqx84dgHcAPnT7Epdp0X.jpg"/>
          <p:cNvPicPr preferRelativeResize="0"/>
          <p:nvPr/>
        </p:nvPicPr>
        <p:blipFill>
          <a:blip r:embed="rId4">
            <a:alphaModFix/>
          </a:blip>
          <a:stretch>
            <a:fillRect/>
          </a:stretch>
        </p:blipFill>
        <p:spPr>
          <a:xfrm>
            <a:off x="3616995" y="3509225"/>
            <a:ext cx="5713099" cy="1634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Ethics</a:t>
            </a:r>
            <a:endParaRPr/>
          </a:p>
        </p:txBody>
      </p:sp>
      <p:sp>
        <p:nvSpPr>
          <p:cNvPr id="178" name="Google Shape;178;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Ethical Problem:</a:t>
            </a:r>
            <a:endParaRPr/>
          </a:p>
          <a:p>
            <a:pPr indent="0" lvl="0" marL="0" rtl="0" algn="l">
              <a:spcBef>
                <a:spcPts val="1200"/>
              </a:spcBef>
              <a:spcAft>
                <a:spcPts val="1200"/>
              </a:spcAft>
              <a:buNone/>
            </a:pPr>
            <a:r>
              <a:rPr lang="en"/>
              <a:t>What information would the AI send, and would the person be able to pick and choose beforehand what the AI has access to? Would it be necessary for the people inside to have to enter personal information, like their weight, blood/alcohol levels, and other information like that? These are topics that would need to be explored </a:t>
            </a:r>
            <a:r>
              <a:rPr lang="en"/>
              <a:t>further.</a:t>
            </a:r>
            <a:endParaRPr/>
          </a:p>
        </p:txBody>
      </p:sp>
      <p:pic>
        <p:nvPicPr>
          <p:cNvPr id="179" name="Google Shape;179;p18" title="Screen Shot 2025-11-30 at 2.19.05 PM.png"/>
          <p:cNvPicPr preferRelativeResize="0"/>
          <p:nvPr/>
        </p:nvPicPr>
        <p:blipFill>
          <a:blip r:embed="rId3">
            <a:alphaModFix/>
          </a:blip>
          <a:stretch>
            <a:fillRect/>
          </a:stretch>
        </p:blipFill>
        <p:spPr>
          <a:xfrm>
            <a:off x="7657100" y="79525"/>
            <a:ext cx="1391474" cy="1391474"/>
          </a:xfrm>
          <a:prstGeom prst="rect">
            <a:avLst/>
          </a:prstGeom>
          <a:noFill/>
          <a:ln>
            <a:noFill/>
          </a:ln>
        </p:spPr>
      </p:pic>
      <p:pic>
        <p:nvPicPr>
          <p:cNvPr id="180" name="Google Shape;180;p18"/>
          <p:cNvPicPr preferRelativeResize="0"/>
          <p:nvPr/>
        </p:nvPicPr>
        <p:blipFill>
          <a:blip r:embed="rId4">
            <a:alphaModFix/>
          </a:blip>
          <a:stretch>
            <a:fillRect/>
          </a:stretch>
        </p:blipFill>
        <p:spPr>
          <a:xfrm>
            <a:off x="3517138" y="3033775"/>
            <a:ext cx="2109725" cy="2109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Innovation.</a:t>
            </a:r>
            <a:endParaRPr/>
          </a:p>
        </p:txBody>
      </p:sp>
      <p:sp>
        <p:nvSpPr>
          <p:cNvPr id="186" name="Google Shape;186;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Highlight what makes your solution unique and impactful.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t>
            </a:r>
            <a:r>
              <a:rPr lang="en"/>
              <a:t>arket</a:t>
            </a:r>
            <a:endParaRPr/>
          </a:p>
        </p:txBody>
      </p:sp>
      <p:sp>
        <p:nvSpPr>
          <p:cNvPr id="192" name="Google Shape;192;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Target users and benefits.</a:t>
            </a:r>
            <a:endParaRPr/>
          </a:p>
          <a:p>
            <a:pPr indent="0" lvl="0" marL="0" rtl="0" algn="l">
              <a:spcBef>
                <a:spcPts val="1200"/>
              </a:spcBef>
              <a:spcAft>
                <a:spcPts val="1200"/>
              </a:spcAft>
              <a:buNone/>
            </a:pPr>
            <a:r>
              <a:rPr lang="en"/>
              <a:t>Next steps or investment request.</a:t>
            </a:r>
            <a:endParaRPr/>
          </a:p>
        </p:txBody>
      </p:sp>
      <p:pic>
        <p:nvPicPr>
          <p:cNvPr id="193" name="Google Shape;193;p20" title="Screen Shot 2025-11-30 at 2.19.05 PM.png"/>
          <p:cNvPicPr preferRelativeResize="0"/>
          <p:nvPr/>
        </p:nvPicPr>
        <p:blipFill>
          <a:blip r:embed="rId3">
            <a:alphaModFix/>
          </a:blip>
          <a:stretch>
            <a:fillRect/>
          </a:stretch>
        </p:blipFill>
        <p:spPr>
          <a:xfrm>
            <a:off x="7657100" y="79525"/>
            <a:ext cx="1391474" cy="13914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Sources</a:t>
            </a:r>
            <a:endParaRPr/>
          </a:p>
        </p:txBody>
      </p:sp>
      <p:sp>
        <p:nvSpPr>
          <p:cNvPr id="199" name="Google Shape;199;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Slide 3 (car crash images) - Adobe Stock Images</a:t>
            </a:r>
            <a:endParaRPr/>
          </a:p>
          <a:p>
            <a:pPr indent="0" lvl="0" marL="0" rtl="0" algn="l">
              <a:spcBef>
                <a:spcPts val="1200"/>
              </a:spcBef>
              <a:spcAft>
                <a:spcPts val="0"/>
              </a:spcAft>
              <a:buNone/>
            </a:pPr>
            <a:r>
              <a:rPr lang="en"/>
              <a:t>Slide 6 (data entry image) - istockphotos</a:t>
            </a:r>
            <a:endParaRPr/>
          </a:p>
          <a:p>
            <a:pPr indent="0" lvl="0" marL="0" rtl="0" algn="l">
              <a:spcBef>
                <a:spcPts val="1200"/>
              </a:spcBef>
              <a:spcAft>
                <a:spcPts val="1200"/>
              </a:spcAft>
              <a:buNone/>
            </a:pPr>
            <a:r>
              <a:t/>
            </a:r>
            <a:endParaRPr/>
          </a:p>
        </p:txBody>
      </p:sp>
      <p:pic>
        <p:nvPicPr>
          <p:cNvPr id="200" name="Google Shape;200;p21" title="Screen Shot 2025-11-30 at 2.19.05 PM.png"/>
          <p:cNvPicPr preferRelativeResize="0"/>
          <p:nvPr/>
        </p:nvPicPr>
        <p:blipFill>
          <a:blip r:embed="rId3">
            <a:alphaModFix/>
          </a:blip>
          <a:stretch>
            <a:fillRect/>
          </a:stretch>
        </p:blipFill>
        <p:spPr>
          <a:xfrm>
            <a:off x="7657100" y="79525"/>
            <a:ext cx="1391474" cy="13914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